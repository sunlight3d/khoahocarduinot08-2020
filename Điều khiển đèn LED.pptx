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  <a:srgbClr val="C51D4A"/>
    <a:srgbClr val="0069DC"/>
    <a:srgbClr val="005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9"/>
    <p:restoredTop sz="94666"/>
  </p:normalViewPr>
  <p:slideViewPr>
    <p:cSldViewPr snapToGrid="0" snapToObjects="1">
      <p:cViewPr varScale="1">
        <p:scale>
          <a:sx n="207" d="100"/>
          <a:sy n="2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05350-5501-ED44-8AFE-85372B8313F7}" type="datetimeFigureOut">
              <a:rPr lang="en-VN" smtClean="0"/>
              <a:t>8/21/20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52CB1-C707-2A44-9C29-AC8F0F1262A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177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52CB1-C707-2A44-9C29-AC8F0F1262A2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94995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52CB1-C707-2A44-9C29-AC8F0F1262A2}" type="slidenum">
              <a:rPr lang="en-VN" smtClean="0"/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80787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52CB1-C707-2A44-9C29-AC8F0F1262A2}" type="slidenum">
              <a:rPr lang="en-VN" smtClean="0"/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25413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52CB1-C707-2A44-9C29-AC8F0F1262A2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71139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B01F3-99D6-1C43-888E-58A5DE847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6D9F3-A370-9B43-86F0-CC7C2CE39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1414B-058B-184E-BFA8-43F28567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50167-F59A-9748-B5D0-CEFF8A00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AF331-FECB-EE42-A24F-85F22984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041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DC09-4AF0-9341-A82A-D20C72B8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890E-5CF6-934F-9833-9EADDC574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52A65-74D6-A14F-B568-4D12378F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12245-F2B3-F34A-A11D-55E2C80B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670CE-B2E7-B14F-9FC7-22AF16D6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5825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024A-861F-7A4C-834D-787A7300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3546C-CB4A-A94C-AF8D-44908BD5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A314A-8B97-CF45-A652-8DE2D2E1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A6A2D-C019-3848-B33C-E8D3B079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6CE2-8997-DF43-A5B5-49ACB208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9105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0A01-E9E3-E44F-BD12-F5A9A02C2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3EE2F-FE2A-0F49-A096-B4FC32DB9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965FD-D3A4-4B4A-AB0E-56CC9D6D2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AB1C9-D0D7-D948-9A13-CB32CB180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D6003-7C15-6A44-987B-CD6410675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8BF44-E6C7-2446-9D12-BE598F48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0083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034C-C13F-2B44-A306-7882903A1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20BCC-A655-2E42-911B-AC00B6660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27F5A-5E08-1A47-B5C2-0060F521E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8B042-4ED9-9349-BA69-450DEF9A3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0DB28-C3CC-BF4B-AE42-11B5EDCDE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4E6E3-9039-E440-8F88-3342BED6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9E776-8DF6-A143-95A9-815A8848F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744B1C-7C01-0C42-8C07-8483CF3C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9250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6DA4-5ABF-694C-9A7C-03914687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AEAF6-35E9-734D-BFBA-F0D7C99E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70459-53E2-E342-A588-5E9B6FCD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1D01A-766A-404D-8312-5537A501E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1338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EF875-2ADB-BB4B-A8E3-646E160E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BBFEB-65B3-DD45-8DCA-AB33BBA7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55AE-7AD6-3B43-B16C-13B5BCD0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3922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4FC7-5ABD-CC44-8C27-5D28B3D4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9D0EA-9B98-A447-AF85-9237D4DC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CCF23-D1F1-A644-B5D1-612E0E410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C63DD-BC57-C94E-B2BB-0B82A66D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BCBDE-7C96-894E-9D2E-71FD9E83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4D656-D321-FE41-9287-15C380DA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0515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650A-8574-554F-B957-086AAE57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2012E6-C4D1-D442-A2A3-0E9A62237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9658B-6473-0346-A1DA-DCFD4390B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46327-7A14-E74F-8E3E-9D449E7A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424F1-461A-A64E-821F-BA26C9814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83476-3E01-4C46-AA9D-12DCE837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545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C6677-AB44-5D4E-96A9-966A673D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CA7D8-D03B-A84E-B8A8-D4A5B7FAF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BC01-E9E2-FE45-976F-04948BE6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48AD-F14B-EA4F-B46D-66A966B1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BEEED-BEE0-EB41-8053-1F0396B1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102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810C9-0AB5-8642-95F6-9A097DCC51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0604A-1CD2-1D40-A7C9-24A30E2F1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84ACB-E9EB-174C-B6D2-C6622995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2A153-C2EF-4C4C-8E6E-58D41985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2D97E-1972-5B48-AB5A-A3A76395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309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8D5827-147C-8840-9B37-89D48579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1295-763C-BA4E-B53C-94B7734F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A2129-4BED-6D49-AF01-B90CFF882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118D9-DB72-0B4A-AEFD-1B27F5E655F5}" type="datetimeFigureOut">
              <a:rPr lang="en-VN" smtClean="0"/>
              <a:t>8/21/20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38C78-D3D2-EF4B-B3B0-9D051D0A6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38F86-6298-7143-81AC-D4DD755B9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B0ABD-552E-A149-89AB-5F227CB473E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7977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579447-DF24-9B4D-A109-7DC3640C44C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6" t="23756" r="13208" b="81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0D034088-D25C-D04B-937E-F4040703DAD7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1D4A">
              <a:alpha val="77000"/>
            </a:srgb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sz="1200">
                <a:solidFill>
                  <a:srgbClr val="1F9E4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VN" sz="1200">
              <a:solidFill>
                <a:srgbClr val="5F5F5F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7B673-795E-0745-97C4-53FBA22B0ACB}"/>
              </a:ext>
            </a:extLst>
          </p:cNvPr>
          <p:cNvSpPr/>
          <p:nvPr/>
        </p:nvSpPr>
        <p:spPr>
          <a:xfrm>
            <a:off x="176274" y="159875"/>
            <a:ext cx="11839451" cy="6538249"/>
          </a:xfrm>
          <a:prstGeom prst="roundRect">
            <a:avLst>
              <a:gd name="adj" fmla="val 2517"/>
            </a:avLst>
          </a:prstGeom>
          <a:solidFill>
            <a:srgbClr val="C51D4A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A1D3807-A567-B34D-A27D-CEF023701615}"/>
              </a:ext>
            </a:extLst>
          </p:cNvPr>
          <p:cNvSpPr txBox="1"/>
          <p:nvPr/>
        </p:nvSpPr>
        <p:spPr>
          <a:xfrm>
            <a:off x="1067266" y="1407881"/>
            <a:ext cx="10057465" cy="404223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vi-VN" sz="9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Điều khiển đèn LED bằng Arduino</a:t>
            </a:r>
          </a:p>
        </p:txBody>
      </p:sp>
    </p:spTree>
    <p:extLst>
      <p:ext uri="{BB962C8B-B14F-4D97-AF65-F5344CB8AC3E}">
        <p14:creationId xmlns:p14="http://schemas.microsoft.com/office/powerpoint/2010/main" val="5234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579447-DF24-9B4D-A109-7DC3640C44C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0" t="29542" r="13905" b="108"/>
          <a:stretch/>
        </p:blipFill>
        <p:spPr>
          <a:xfrm>
            <a:off x="0" y="10136"/>
            <a:ext cx="12192000" cy="6858000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0D034088-D25C-D04B-937E-F4040703DAD7}"/>
              </a:ext>
            </a:extLst>
          </p:cNvPr>
          <p:cNvSpPr txBox="1"/>
          <p:nvPr/>
        </p:nvSpPr>
        <p:spPr>
          <a:xfrm>
            <a:off x="-10859" y="-33203"/>
            <a:ext cx="12202859" cy="6901339"/>
          </a:xfrm>
          <a:prstGeom prst="rect">
            <a:avLst/>
          </a:prstGeom>
          <a:solidFill>
            <a:srgbClr val="0069DC">
              <a:alpha val="76863"/>
            </a:srgb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sz="1200">
                <a:solidFill>
                  <a:srgbClr val="1F9E4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VN" sz="1200">
              <a:solidFill>
                <a:srgbClr val="5F5F5F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7B673-795E-0745-97C4-53FBA22B0ACB}"/>
              </a:ext>
            </a:extLst>
          </p:cNvPr>
          <p:cNvSpPr/>
          <p:nvPr/>
        </p:nvSpPr>
        <p:spPr>
          <a:xfrm>
            <a:off x="161449" y="131108"/>
            <a:ext cx="11858241" cy="6509310"/>
          </a:xfrm>
          <a:prstGeom prst="roundRect">
            <a:avLst>
              <a:gd name="adj" fmla="val 2517"/>
            </a:avLst>
          </a:prstGeom>
          <a:solidFill>
            <a:srgbClr val="0052B8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A1D3807-A567-B34D-A27D-CEF023701615}"/>
              </a:ext>
            </a:extLst>
          </p:cNvPr>
          <p:cNvSpPr txBox="1"/>
          <p:nvPr/>
        </p:nvSpPr>
        <p:spPr>
          <a:xfrm>
            <a:off x="172310" y="155996"/>
            <a:ext cx="11796000" cy="104995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vi-VN" sz="4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Kết nối Arduino và LED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171B0F-ADC7-174C-A655-C40C6FFA38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266" t="6577" r="11493" b="7005"/>
          <a:stretch/>
        </p:blipFill>
        <p:spPr>
          <a:xfrm>
            <a:off x="921899" y="2661320"/>
            <a:ext cx="4564501" cy="3240877"/>
          </a:xfrm>
          <a:prstGeom prst="rect">
            <a:avLst/>
          </a:prstGeom>
        </p:spPr>
      </p:pic>
      <p:sp>
        <p:nvSpPr>
          <p:cNvPr id="11" name="Text Box 3">
            <a:extLst>
              <a:ext uri="{FF2B5EF4-FFF2-40B4-BE49-F238E27FC236}">
                <a16:creationId xmlns:a16="http://schemas.microsoft.com/office/drawing/2014/main" id="{F46F324B-481F-E142-BE37-F4F2BCE0B5DF}"/>
              </a:ext>
            </a:extLst>
          </p:cNvPr>
          <p:cNvSpPr txBox="1"/>
          <p:nvPr/>
        </p:nvSpPr>
        <p:spPr>
          <a:xfrm>
            <a:off x="659311" y="2058947"/>
            <a:ext cx="2467779" cy="782669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vi-VN" sz="3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Arduino R3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627B9231-8F05-3D4D-9919-A4BF8DBCC039}"/>
              </a:ext>
            </a:extLst>
          </p:cNvPr>
          <p:cNvSpPr txBox="1"/>
          <p:nvPr/>
        </p:nvSpPr>
        <p:spPr>
          <a:xfrm>
            <a:off x="7384059" y="2168420"/>
            <a:ext cx="4716956" cy="54439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vi-VN" sz="3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LED(Light Emitting Diode)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3AAF792-78CA-A84F-8AE7-FEF5381C9483}"/>
              </a:ext>
            </a:extLst>
          </p:cNvPr>
          <p:cNvGrpSpPr/>
          <p:nvPr/>
        </p:nvGrpSpPr>
        <p:grpSpPr>
          <a:xfrm>
            <a:off x="214168" y="956300"/>
            <a:ext cx="1509446" cy="2634226"/>
            <a:chOff x="214168" y="956300"/>
            <a:chExt cx="1509446" cy="263422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9A3675B-9141-3442-A034-E723B87D8D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139" t="19348" r="2699" b="21352"/>
            <a:stretch/>
          </p:blipFill>
          <p:spPr>
            <a:xfrm>
              <a:off x="214168" y="956300"/>
              <a:ext cx="1509446" cy="960786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0ADB8C9-69C2-514C-AEB8-1F24210D172C}"/>
                </a:ext>
              </a:extLst>
            </p:cNvPr>
            <p:cNvCxnSpPr>
              <a:cxnSpLocks/>
            </p:cNvCxnSpPr>
            <p:nvPr/>
          </p:nvCxnSpPr>
          <p:spPr>
            <a:xfrm>
              <a:off x="453762" y="1917086"/>
              <a:ext cx="0" cy="167344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D631AD6-9F89-B141-AE84-9A102D7888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0012" y="3586219"/>
              <a:ext cx="563765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39B42F5-B034-D14E-B9A0-D6839DF52FE8}"/>
              </a:ext>
            </a:extLst>
          </p:cNvPr>
          <p:cNvGrpSpPr/>
          <p:nvPr/>
        </p:nvGrpSpPr>
        <p:grpSpPr>
          <a:xfrm>
            <a:off x="203248" y="5436648"/>
            <a:ext cx="1020535" cy="1395325"/>
            <a:chOff x="203248" y="5436648"/>
            <a:chExt cx="1020535" cy="1395325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41F27DB-9AA7-7F41-AF73-881BFF7FE197}"/>
                </a:ext>
              </a:extLst>
            </p:cNvPr>
            <p:cNvCxnSpPr>
              <a:cxnSpLocks/>
            </p:cNvCxnSpPr>
            <p:nvPr/>
          </p:nvCxnSpPr>
          <p:spPr>
            <a:xfrm>
              <a:off x="543139" y="5443523"/>
              <a:ext cx="680644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BBF3987-8017-DE4D-BC84-27F009D977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328" t="12328" r="12274" b="12274"/>
            <a:stretch/>
          </p:blipFill>
          <p:spPr>
            <a:xfrm>
              <a:off x="203248" y="6133302"/>
              <a:ext cx="698671" cy="698671"/>
            </a:xfrm>
            <a:prstGeom prst="rect">
              <a:avLst/>
            </a:prstGeom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CF22C4D-122E-9541-A5FD-EE6CE18E74D4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 flipH="1">
              <a:off x="552584" y="5436648"/>
              <a:ext cx="4306" cy="69665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30EB7B1E-0E23-3A47-84CA-9DCFF703802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2550" t="15558" r="37031"/>
          <a:stretch/>
        </p:blipFill>
        <p:spPr>
          <a:xfrm flipH="1">
            <a:off x="9236130" y="3240264"/>
            <a:ext cx="506407" cy="152193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BB3247F-545B-4D4D-93A0-7C24DFAE2E7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2614" t="14492" r="36930"/>
          <a:stretch/>
        </p:blipFill>
        <p:spPr>
          <a:xfrm>
            <a:off x="9248403" y="3235050"/>
            <a:ext cx="506407" cy="1532363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B4E085D-82E0-9547-B1FE-95C0723A93BA}"/>
              </a:ext>
            </a:extLst>
          </p:cNvPr>
          <p:cNvGrpSpPr/>
          <p:nvPr/>
        </p:nvGrpSpPr>
        <p:grpSpPr>
          <a:xfrm>
            <a:off x="3664707" y="4490552"/>
            <a:ext cx="5741641" cy="1838513"/>
            <a:chOff x="3664707" y="4490552"/>
            <a:chExt cx="5741641" cy="1838513"/>
          </a:xfrm>
        </p:grpSpPr>
        <p:sp>
          <p:nvSpPr>
            <p:cNvPr id="36" name="Text Box 3">
              <a:extLst>
                <a:ext uri="{FF2B5EF4-FFF2-40B4-BE49-F238E27FC236}">
                  <a16:creationId xmlns:a16="http://schemas.microsoft.com/office/drawing/2014/main" id="{33BCE583-0FF7-174D-97A1-02014ED12CF1}"/>
                </a:ext>
              </a:extLst>
            </p:cNvPr>
            <p:cNvSpPr txBox="1"/>
            <p:nvPr/>
          </p:nvSpPr>
          <p:spPr>
            <a:xfrm>
              <a:off x="5928439" y="5906746"/>
              <a:ext cx="1576369" cy="422319"/>
            </a:xfrm>
            <a:prstGeom prst="rect">
              <a:avLst/>
            </a:prstGeom>
            <a:noFill/>
            <a:ln w="6350">
              <a:noFill/>
            </a:ln>
            <a:effectLst>
              <a:glow>
                <a:schemeClr val="accent1">
                  <a:alpha val="40000"/>
                </a:schemeClr>
              </a:glo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vi-VN" sz="20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VCC = 5V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4917E46-3706-6E44-B683-66FBF4E49459}"/>
                </a:ext>
              </a:extLst>
            </p:cNvPr>
            <p:cNvGrpSpPr/>
            <p:nvPr/>
          </p:nvGrpSpPr>
          <p:grpSpPr>
            <a:xfrm>
              <a:off x="3664707" y="4490552"/>
              <a:ext cx="5741641" cy="1838513"/>
              <a:chOff x="3664707" y="4490552"/>
              <a:chExt cx="5741641" cy="1838513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DCB5D9B-199E-CC47-A174-44D8F0EB59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2141" y="5801130"/>
                <a:ext cx="0" cy="508497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7A20AB9-9BE3-1F40-A0A1-A6687D9CF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4707" y="6309627"/>
                <a:ext cx="5741641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BFE33AC-9310-1440-BBFA-BBABDA349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6348" y="4490552"/>
                <a:ext cx="0" cy="183851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FC52FB2-899B-784F-9CCA-00102EB52A3B}"/>
              </a:ext>
            </a:extLst>
          </p:cNvPr>
          <p:cNvGrpSpPr/>
          <p:nvPr/>
        </p:nvGrpSpPr>
        <p:grpSpPr>
          <a:xfrm>
            <a:off x="2950836" y="2350093"/>
            <a:ext cx="6649201" cy="3092636"/>
            <a:chOff x="2950836" y="2350093"/>
            <a:chExt cx="6649201" cy="3092636"/>
          </a:xfrm>
        </p:grpSpPr>
        <p:sp>
          <p:nvSpPr>
            <p:cNvPr id="20" name="Text Box 3">
              <a:extLst>
                <a:ext uri="{FF2B5EF4-FFF2-40B4-BE49-F238E27FC236}">
                  <a16:creationId xmlns:a16="http://schemas.microsoft.com/office/drawing/2014/main" id="{21186091-014F-894B-9EAC-4B3EC1792DB8}"/>
                </a:ext>
              </a:extLst>
            </p:cNvPr>
            <p:cNvSpPr txBox="1"/>
            <p:nvPr/>
          </p:nvSpPr>
          <p:spPr>
            <a:xfrm>
              <a:off x="6816973" y="5020410"/>
              <a:ext cx="1160274" cy="42231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1000"/>
                </a:spcAft>
              </a:pPr>
              <a:r>
                <a:rPr lang="vi-VN" sz="20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Arial" panose="020B0604020202020204" pitchFamily="34" charset="0"/>
                  <a:ea typeface="Verdana" panose="020B0604030504040204" pitchFamily="34" charset="0"/>
                  <a:cs typeface="Times New Roman" panose="02020603050405020304" pitchFamily="18" charset="0"/>
                </a:rPr>
                <a:t>GND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81F068-9CDE-3D49-8D57-CEFE78113FB0}"/>
                </a:ext>
              </a:extLst>
            </p:cNvPr>
            <p:cNvCxnSpPr>
              <a:cxnSpLocks/>
            </p:cNvCxnSpPr>
            <p:nvPr/>
          </p:nvCxnSpPr>
          <p:spPr>
            <a:xfrm>
              <a:off x="2950836" y="2350093"/>
              <a:ext cx="0" cy="5185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8CDE41E-9840-7A48-843C-37ED3C305870}"/>
                </a:ext>
              </a:extLst>
            </p:cNvPr>
            <p:cNvCxnSpPr>
              <a:cxnSpLocks/>
            </p:cNvCxnSpPr>
            <p:nvPr/>
          </p:nvCxnSpPr>
          <p:spPr>
            <a:xfrm>
              <a:off x="2950836" y="2361944"/>
              <a:ext cx="38671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412A77D-04CC-164F-94F5-D1F1A6F16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021" y="2354467"/>
              <a:ext cx="24144" cy="3022805"/>
            </a:xfrm>
            <a:prstGeom prst="line">
              <a:avLst/>
            </a:prstGeom>
            <a:ln w="38100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D111ED-7524-7845-9A7E-91D22713A3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36028" y="5372986"/>
              <a:ext cx="2764009" cy="10309"/>
            </a:xfrm>
            <a:prstGeom prst="line">
              <a:avLst/>
            </a:prstGeom>
            <a:ln w="38100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F7648E4-EFDC-CA44-A588-A63E55FDD0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1994" y="4494273"/>
              <a:ext cx="0" cy="915535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>
                <a:schemeClr val="bg1">
                  <a:alpha val="86000"/>
                </a:schemeClr>
              </a:glow>
              <a:outerShdw sx="1000" sy="1000" algn="ctr" rotWithShape="0">
                <a:schemeClr val="bg2"/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569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579447-DF24-9B4D-A109-7DC3640C44C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0" t="29542" r="13905" b="108"/>
          <a:stretch/>
        </p:blipFill>
        <p:spPr>
          <a:xfrm>
            <a:off x="0" y="10136"/>
            <a:ext cx="12192000" cy="6858000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0D034088-D25C-D04B-937E-F4040703DAD7}"/>
              </a:ext>
            </a:extLst>
          </p:cNvPr>
          <p:cNvSpPr txBox="1"/>
          <p:nvPr/>
        </p:nvSpPr>
        <p:spPr>
          <a:xfrm>
            <a:off x="-10859" y="-33203"/>
            <a:ext cx="12202859" cy="6901339"/>
          </a:xfrm>
          <a:prstGeom prst="rect">
            <a:avLst/>
          </a:prstGeom>
          <a:solidFill>
            <a:srgbClr val="0069DC">
              <a:alpha val="76863"/>
            </a:srgb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sz="1200">
                <a:solidFill>
                  <a:srgbClr val="1F9E4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VN" sz="1200">
              <a:solidFill>
                <a:srgbClr val="5F5F5F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7B673-795E-0745-97C4-53FBA22B0ACB}"/>
              </a:ext>
            </a:extLst>
          </p:cNvPr>
          <p:cNvSpPr/>
          <p:nvPr/>
        </p:nvSpPr>
        <p:spPr>
          <a:xfrm>
            <a:off x="161449" y="131108"/>
            <a:ext cx="11858241" cy="6509310"/>
          </a:xfrm>
          <a:prstGeom prst="roundRect">
            <a:avLst>
              <a:gd name="adj" fmla="val 2517"/>
            </a:avLst>
          </a:prstGeom>
          <a:solidFill>
            <a:srgbClr val="0052B8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A1D3807-A567-B34D-A27D-CEF023701615}"/>
              </a:ext>
            </a:extLst>
          </p:cNvPr>
          <p:cNvSpPr txBox="1"/>
          <p:nvPr/>
        </p:nvSpPr>
        <p:spPr>
          <a:xfrm>
            <a:off x="172310" y="155996"/>
            <a:ext cx="11796000" cy="104995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vi-VN" sz="4000" dirty="0">
                <a:solidFill>
                  <a:srgbClr val="FFFFFF"/>
                </a:solidFill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Điều khiển bật/tắt đèn LED</a:t>
            </a:r>
            <a:endParaRPr lang="vi-VN" sz="4000" dirty="0">
              <a:solidFill>
                <a:srgbClr val="FFFFFF"/>
              </a:solidFill>
              <a:effectLst/>
              <a:latin typeface="Arial" panose="020B060402020202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F7666-9F0A-D74D-A102-1EF79251A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356" y="2198400"/>
            <a:ext cx="2188832" cy="1869627"/>
          </a:xfrm>
          <a:prstGeom prst="rect">
            <a:avLst/>
          </a:prstGeom>
        </p:spPr>
      </p:pic>
      <p:sp>
        <p:nvSpPr>
          <p:cNvPr id="34" name="Line Callout 1 33">
            <a:extLst>
              <a:ext uri="{FF2B5EF4-FFF2-40B4-BE49-F238E27FC236}">
                <a16:creationId xmlns:a16="http://schemas.microsoft.com/office/drawing/2014/main" id="{2BDD5BA1-6204-3A4F-9D51-3A07F39856A7}"/>
              </a:ext>
            </a:extLst>
          </p:cNvPr>
          <p:cNvSpPr/>
          <p:nvPr/>
        </p:nvSpPr>
        <p:spPr>
          <a:xfrm>
            <a:off x="8494451" y="2106346"/>
            <a:ext cx="2447665" cy="450282"/>
          </a:xfrm>
          <a:prstGeom prst="borderCallout1">
            <a:avLst>
              <a:gd name="adj1" fmla="val 18750"/>
              <a:gd name="adj2" fmla="val -8333"/>
              <a:gd name="adj3" fmla="val 70121"/>
              <a:gd name="adj4" fmla="val -69762"/>
            </a:avLst>
          </a:prstGeom>
          <a:noFill/>
          <a:ln w="25400">
            <a:solidFill>
              <a:srgbClr val="FFC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Chân 8 là OUTPUT !</a:t>
            </a:r>
          </a:p>
        </p:txBody>
      </p:sp>
      <p:sp>
        <p:nvSpPr>
          <p:cNvPr id="37" name="Line Callout 1 36">
            <a:extLst>
              <a:ext uri="{FF2B5EF4-FFF2-40B4-BE49-F238E27FC236}">
                <a16:creationId xmlns:a16="http://schemas.microsoft.com/office/drawing/2014/main" id="{216ECEA8-F6B2-8545-BA6C-065C63BC38F6}"/>
              </a:ext>
            </a:extLst>
          </p:cNvPr>
          <p:cNvSpPr/>
          <p:nvPr/>
        </p:nvSpPr>
        <p:spPr>
          <a:xfrm>
            <a:off x="2393396" y="2657644"/>
            <a:ext cx="2016575" cy="582645"/>
          </a:xfrm>
          <a:prstGeom prst="borderCallout1">
            <a:avLst>
              <a:gd name="adj1" fmla="val 18750"/>
              <a:gd name="adj2" fmla="val 102989"/>
              <a:gd name="adj3" fmla="val 81024"/>
              <a:gd name="adj4" fmla="val 140596"/>
            </a:avLst>
          </a:prstGeom>
          <a:noFill/>
          <a:ln w="25400">
            <a:solidFill>
              <a:srgbClr val="FFC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Chân 8 lên mức cao(khoảng 5V)</a:t>
            </a:r>
          </a:p>
        </p:txBody>
      </p:sp>
      <p:sp>
        <p:nvSpPr>
          <p:cNvPr id="38" name="Line Callout 1 37">
            <a:extLst>
              <a:ext uri="{FF2B5EF4-FFF2-40B4-BE49-F238E27FC236}">
                <a16:creationId xmlns:a16="http://schemas.microsoft.com/office/drawing/2014/main" id="{E50730F1-9FB5-F84E-B43B-6C850F54E76B}"/>
              </a:ext>
            </a:extLst>
          </p:cNvPr>
          <p:cNvSpPr/>
          <p:nvPr/>
        </p:nvSpPr>
        <p:spPr>
          <a:xfrm>
            <a:off x="8016045" y="3006744"/>
            <a:ext cx="2447665" cy="546528"/>
          </a:xfrm>
          <a:prstGeom prst="borderCallout1">
            <a:avLst>
              <a:gd name="adj1" fmla="val 18750"/>
              <a:gd name="adj2" fmla="val -8333"/>
              <a:gd name="adj3" fmla="val 56809"/>
              <a:gd name="adj4" fmla="val -70013"/>
            </a:avLst>
          </a:prstGeom>
          <a:noFill/>
          <a:ln w="25400">
            <a:solidFill>
              <a:srgbClr val="FFC00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dirty="0"/>
              <a:t>Dừng chương trình 1 giây</a:t>
            </a:r>
          </a:p>
        </p:txBody>
      </p:sp>
    </p:spTree>
    <p:extLst>
      <p:ext uri="{BB962C8B-B14F-4D97-AF65-F5344CB8AC3E}">
        <p14:creationId xmlns:p14="http://schemas.microsoft.com/office/powerpoint/2010/main" val="167257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7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579447-DF24-9B4D-A109-7DC3640C44C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0" t="29542" r="13905" b="108"/>
          <a:stretch/>
        </p:blipFill>
        <p:spPr>
          <a:xfrm>
            <a:off x="0" y="10136"/>
            <a:ext cx="12192000" cy="6858000"/>
          </a:xfrm>
          <a:prstGeom prst="rect">
            <a:avLst/>
          </a:prstGeom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0D034088-D25C-D04B-937E-F4040703DAD7}"/>
              </a:ext>
            </a:extLst>
          </p:cNvPr>
          <p:cNvSpPr txBox="1"/>
          <p:nvPr/>
        </p:nvSpPr>
        <p:spPr>
          <a:xfrm>
            <a:off x="-10859" y="-33203"/>
            <a:ext cx="12202859" cy="6901339"/>
          </a:xfrm>
          <a:prstGeom prst="rect">
            <a:avLst/>
          </a:prstGeom>
          <a:solidFill>
            <a:srgbClr val="0069DC">
              <a:alpha val="76863"/>
            </a:srgbClr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sz="1200">
                <a:solidFill>
                  <a:srgbClr val="1F9E4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 </a:t>
            </a:r>
            <a:endParaRPr lang="en-VN" sz="1200">
              <a:solidFill>
                <a:srgbClr val="5F5F5F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DD7B673-795E-0745-97C4-53FBA22B0ACB}"/>
              </a:ext>
            </a:extLst>
          </p:cNvPr>
          <p:cNvSpPr/>
          <p:nvPr/>
        </p:nvSpPr>
        <p:spPr>
          <a:xfrm>
            <a:off x="161449" y="131108"/>
            <a:ext cx="11858241" cy="6509310"/>
          </a:xfrm>
          <a:prstGeom prst="roundRect">
            <a:avLst>
              <a:gd name="adj" fmla="val 2517"/>
            </a:avLst>
          </a:prstGeom>
          <a:solidFill>
            <a:srgbClr val="0052B8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A1D3807-A567-B34D-A27D-CEF023701615}"/>
              </a:ext>
            </a:extLst>
          </p:cNvPr>
          <p:cNvSpPr txBox="1"/>
          <p:nvPr/>
        </p:nvSpPr>
        <p:spPr>
          <a:xfrm>
            <a:off x="172310" y="155996"/>
            <a:ext cx="11796000" cy="104995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  <a:spcAft>
                <a:spcPts val="1000"/>
              </a:spcAft>
            </a:pPr>
            <a:r>
              <a:rPr lang="vi-VN" sz="4000" dirty="0">
                <a:solidFill>
                  <a:srgbClr val="FFFFFF"/>
                </a:solidFill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Bài tập gợi ý</a:t>
            </a:r>
            <a:endParaRPr lang="vi-VN" sz="4000" dirty="0">
              <a:solidFill>
                <a:srgbClr val="FFFFFF"/>
              </a:solidFill>
              <a:effectLst/>
              <a:latin typeface="Arial" panose="020B060402020202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94B31365-AF32-5A45-A6DC-87FF6BA8E005}"/>
              </a:ext>
            </a:extLst>
          </p:cNvPr>
          <p:cNvSpPr txBox="1"/>
          <p:nvPr/>
        </p:nvSpPr>
        <p:spPr>
          <a:xfrm>
            <a:off x="368215" y="1523504"/>
            <a:ext cx="11513156" cy="396289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71500" indent="-571500">
              <a:lnSpc>
                <a:spcPct val="130000"/>
              </a:lnSpc>
              <a:spcAft>
                <a:spcPts val="1000"/>
              </a:spcAft>
              <a:buFontTx/>
              <a:buChar char="-"/>
            </a:pPr>
            <a:r>
              <a:rPr lang="vi-VN" sz="4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Thêm điện trở mắc nối tiếp =&gt; giảm độ sáng LED</a:t>
            </a:r>
          </a:p>
          <a:p>
            <a:pPr marL="571500" indent="-571500">
              <a:lnSpc>
                <a:spcPct val="130000"/>
              </a:lnSpc>
              <a:spcAft>
                <a:spcPts val="1000"/>
              </a:spcAft>
              <a:buFontTx/>
              <a:buChar char="-"/>
            </a:pPr>
            <a:r>
              <a:rPr lang="vi-VN" sz="4000" dirty="0">
                <a:solidFill>
                  <a:srgbClr val="FFFFFF"/>
                </a:solidFill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Mắc thêm LED vào chân 8, chân 12</a:t>
            </a:r>
          </a:p>
          <a:p>
            <a:pPr marL="571500" indent="-571500">
              <a:lnSpc>
                <a:spcPct val="130000"/>
              </a:lnSpc>
              <a:spcAft>
                <a:spcPts val="1000"/>
              </a:spcAft>
              <a:buFontTx/>
              <a:buChar char="-"/>
            </a:pPr>
            <a:r>
              <a:rPr lang="vi-VN" sz="40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Tăng thời gian hiển thị giữa nhiều LED</a:t>
            </a:r>
          </a:p>
        </p:txBody>
      </p:sp>
    </p:spTree>
    <p:extLst>
      <p:ext uri="{BB962C8B-B14F-4D97-AF65-F5344CB8AC3E}">
        <p14:creationId xmlns:p14="http://schemas.microsoft.com/office/powerpoint/2010/main" val="138107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89</Words>
  <Application>Microsoft Macintosh PowerPoint</Application>
  <PresentationFormat>Widescreen</PresentationFormat>
  <Paragraphs>22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91</cp:revision>
  <dcterms:created xsi:type="dcterms:W3CDTF">2020-08-15T23:26:19Z</dcterms:created>
  <dcterms:modified xsi:type="dcterms:W3CDTF">2020-08-21T16:28:02Z</dcterms:modified>
</cp:coreProperties>
</file>